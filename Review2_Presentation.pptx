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Average Discount % — Subcategory × Festival (real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Fashion/Footwear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Ganesh
Chaturthi</c:v>
                  </c:pt>
                  <c:pt idx="1">
                    <c:v>Janmashtami</c:v>
                  </c:pt>
                  <c:pt idx="2">
                    <c:v>Normal
day</c:v>
                  </c:pt>
                  <c:pt idx="3">
                    <c:v>Onam +
Raksha B.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60</c:v>
                </c:pt>
                <c:pt idx="2">
                  <c:v>58.9</c:v>
                </c:pt>
                <c:pt idx="3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 Appliance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Ganesh
Chaturthi</c:v>
                  </c:pt>
                  <c:pt idx="1">
                    <c:v>Janmashtami</c:v>
                  </c:pt>
                  <c:pt idx="2">
                    <c:v>Normal
day</c:v>
                  </c:pt>
                  <c:pt idx="3">
                    <c:v>Onam +
Raksha B.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31.8</c:v>
                </c:pt>
                <c:pt idx="1">
                  <c:v>29.8</c:v>
                </c:pt>
                <c:pt idx="2">
                  <c:v>29.6</c:v>
                </c:pt>
                <c:pt idx="3">
                  <c:v>28.4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Television</c:v>
                </c:pt>
              </c:strCache>
            </c:strRef>
          </c:tx>
          <c:spPr>
            <a:solidFill>
              <a:srgbClr val="212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Ganesh
Chaturthi</c:v>
                  </c:pt>
                  <c:pt idx="1">
                    <c:v>Janmashtami</c:v>
                  </c:pt>
                  <c:pt idx="2">
                    <c:v>Normal
day</c:v>
                  </c:pt>
                  <c:pt idx="3">
                    <c:v>Onam +
Raksha B.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32</c:v>
                </c:pt>
                <c:pt idx="1">
                  <c:v>33.6</c:v>
                </c:pt>
                <c:pt idx="2">
                  <c:v>33.8</c:v>
                </c:pt>
                <c:pt idx="3">
                  <c:v>33.3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Laptop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Ganesh
Chaturthi</c:v>
                  </c:pt>
                  <c:pt idx="1">
                    <c:v>Janmashtami</c:v>
                  </c:pt>
                  <c:pt idx="2">
                    <c:v>Normal
day</c:v>
                  </c:pt>
                  <c:pt idx="3">
                    <c:v>Onam +
Raksha B.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17.6</c:v>
                </c:pt>
                <c:pt idx="1">
                  <c:v>17.4</c:v>
                </c:pt>
                <c:pt idx="2">
                  <c:v>17.5</c:v>
                </c:pt>
                <c:pt idx="3">
                  <c:v>18.3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 discount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Flipkart Price Fluctuation &amp;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Deceptive Discount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— Progress Presentation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51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scraping pipeline, exploratory analysis, and predictive modeling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live e-commerce pricing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Question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Flipkart prices fluctuate</a:t>
            </a:r>
            <a:endParaRPr lang="en-US" sz="1500" dirty="0"/>
          </a:p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weekends, festivals, and holidays?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time of day or product category change the pattern?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Scope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031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discounts shown on the page real?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 Flipkart's displayed discount against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MRP and Selling Price actually imply — 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signal for deceptive pricing patterns.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7432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(Playwright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27432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5"/>
                </a:solidFill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496312" y="27432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96312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(3x / day)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87952" y="27432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5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43984" y="27432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43984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35624" y="27432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5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91656" y="27432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91656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83296" y="27432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5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339328" y="27432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30968" y="27432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5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287000" y="27432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8700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was built and independently verified against real data — including several real bugs found and fixed along the way (see next slide).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tracked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3x/day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frequency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554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3,463+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collected so far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window: Aug 22 – Oct 31 (ongoing) • Automated via GitHub Actions, no manual scraping required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covered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800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47672" y="480060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947672" y="48006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80944" y="48006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980944" y="4800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Television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9976" y="480060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79976" y="48006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21808" y="48006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21808" y="4800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Appliance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86600" y="48006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086600" y="4800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/ Footwear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17152" y="480060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17152" y="48006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Challenges Solved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904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broke without warning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8013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Flipkart's hashed CSS classes shift on redeploy → switched to JSON-LD structured data as the primary source, with CSS as fallback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6946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4963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timestamp formats in the data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80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Excel round-trip silently reformatted some rows → built a multi-format parser that recovers both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4845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57530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Actions' scheduler proved unreliable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959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cron silently skipped runs → replaced with an external trigger (cron-job.org) calling the same workflow reliably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274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65429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drift between local runs and cloud runs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0383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runner defaulted to UTC → timestamps now explicitly locked to IST regardless of host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 (as of this review)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3,463 rows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40 products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categories, 7 subcategories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 Aug 22 – Sep 23, 2026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price: ₹42,551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discount: 29.6%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rating: 4.37 / 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(explained, not just noted)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488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 / discount %:  12.9%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products with no strikethrough price shown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offer price:  1.5%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products with no bank offer configured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flag:  40.7% (not a festival day)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features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385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day_of_week, is_weekend, is_festival — festival windows verified against real 2026 dates (Onam, Raksha Bandhan, Janmashtami, Ganesh Chaturthi, Navratri, Dussehra)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7004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797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4553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scrape mapped to its nearest scheduled run (midnight / morning / afternoon), tolerant of scheduler drift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77056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867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fluctuation measures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254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price_change, price_change_pct, and a 3-day TIME-based rolling mean/std — excludes the current observation, so a price is compared to its own recent history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84064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1937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honesty check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595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computed_discount_percent (from MRP−SP) vs. discount_percent shown → discount_discrepancy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Price Volatility by Subcategory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using Coefficient of Variation (std ÷ mean), not raw ₹ std — so expensive products don't automatically rank “most volatile” just because their swings are bigger in absolute terms.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956816"/>
            <a:ext cx="8686800" cy="310896"/>
          </a:xfrm>
          <a:prstGeom prst="roundRect">
            <a:avLst>
              <a:gd name="adj" fmla="val 14706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450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2487168"/>
            <a:ext cx="6601968" cy="310896"/>
          </a:xfrm>
          <a:prstGeom prst="roundRect">
            <a:avLst>
              <a:gd name="adj" fmla="val 14706"/>
            </a:avLst>
          </a:prstGeom>
          <a:solidFill>
            <a:srgbClr val="B850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809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/ Footwear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3017520"/>
            <a:ext cx="521208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112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3547872"/>
            <a:ext cx="3387852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416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Television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4078224"/>
            <a:ext cx="3127248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Appliance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0" y="4608576"/>
            <a:ext cx="1911096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02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5138928"/>
            <a:ext cx="1824228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and Laptop fluctuate most, proportionally — despite Smartphone showing more visual movement in raw ₹ terms.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Discount Behaviour by Subcategory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Fashion/Footwear runs a consistently high ~58–61% discount baseline regardless of festival — a category-level pricing strategy, not a festival effect.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Correlations &amp; Discount Honesty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highlights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Rating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614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 ↔ Rating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7614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284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Discount 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32841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953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Rolling Volatility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89534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Higher-rated products tend to be pricier and discounted less aggressively.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discrepancy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1488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= shown discount − computed discount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quantitative, per-row signal for whether Flipkart's displayed discount matches what MRP and SP actually imply — independent of any manual/LLM judgment.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further against a Subcategory × Festival heatmap to see where discrepancy concentrates.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 — 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556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next_price_change_pct — the % price change at a product's NEXT scraped observation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9806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product state:  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7432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discount_percent, price_change_pct, rolling_price_mean, rolling_price_std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0098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product info:  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2461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subcategory, mrp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49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timestamp's calendar:  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749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day_of_week, is_weekend, is_festival, time_slot — legitimately known in advance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19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train/test split (not random) — train on earlier dates, test on later dates, to avoid leaking future information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→ XGBoost Regressor, evaluated with RMSE and MAE against an explicit naive baseline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 — Checking Against a Baseline</a:t>
            </a:r>
            <a:endParaRPr lang="en-US" sz="3000" dirty="0"/>
          </a:p>
        </p:txBody>
      </p:sp>
      <p:pic>
        <p:nvPicPr>
          <p:cNvPr id="3" name="Image 0" descr="/home/claude/ppt_assets/plot_1_full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3063240"/>
          </a:xfrm>
          <a:prstGeom prst="rect">
            <a:avLst/>
          </a:prstGeom>
        </p:spPr>
      </p:pic>
      <p:pic>
        <p:nvPicPr>
          <p:cNvPr id="4" name="Image 1" descr="/home/claude/ppt_assets/plot_2_filtered_model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94960" cy="3063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526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FULL dataset (98% zero-change rows), models roughly tie a naive “predict 0” baseline.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6126480" y="4526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FILTERED to rows with a real price change, Random Forest clearly beats a mean-prediction baseline.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against baseline — not just training a model — revealed that price changes are rare, discrete events best modeled separately from the “nothing happened” majority.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vs Actual — An Honest Look</a:t>
            </a:r>
            <a:endParaRPr lang="en-US" sz="3000" dirty="0"/>
          </a:p>
        </p:txBody>
      </p:sp>
      <p:pic>
        <p:nvPicPr>
          <p:cNvPr id="3" name="Image 0" descr="/home/claude/ppt_assets/plot_3_predicted_vs_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280160"/>
            <a:ext cx="6858000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49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cluster in a narrow band while actual swings range far wider — the model (trained on just 69 rows) underestimates extreme jumps. A known, stated limitation of the current sample size, not a hidden flaw.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 — What Festivals Actually Affect</a:t>
            </a:r>
            <a:endParaRPr lang="en-US" sz="3000" dirty="0"/>
          </a:p>
        </p:txBody>
      </p:sp>
      <p:pic>
        <p:nvPicPr>
          <p:cNvPr id="3" name="Image 0" descr="/home/claude/ppt_assets/plot_4_feature_importanc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1124712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next_is_festival ranks #2 in the full model — but disappears from the filtered model's top features entirely.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 appear to drive WHETHER a price changes at all — not HOW LARGE the change is once it happens. A specific, model-backed finding, not just an EDA impression.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So Far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4475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and Laptop are proportionally the most volatile subcategories — driven by a handful of specific SKUs, not a uniform effect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49631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Fashion/Footwear maintains a ~58–61% discount baseline regardless of festival timing — a category strategy, not a festival effect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54787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 influence WHETHER a price changes, more than HOW MUCH it changes when it does — confirmed by two separate model runs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5994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— scraping through modeling — runs automatically, unattended, with verified data quality at every stage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 — Review 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BF2F0"/>
          </a:solidFill>
          <a:ln w="12700">
            <a:solidFill>
              <a:srgbClr val="F0DAD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limitations, right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Filtered model trained on only 87 real-change rows (18 test)</a:t>
            </a:r>
            <a:endParaRPr lang="en-US" sz="135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Extreme price jumps under-predicted — small sample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doesn't yet include Navratri/Dussehra — the biggest sale window of the whole project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EEF6F4"/>
          </a:solidFill>
          <a:ln w="12700">
            <a:solidFill>
              <a:srgbClr val="D6E9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for Review 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031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dataset through Oct 31 (~3x current volume)</a:t>
            </a:r>
            <a:endParaRPr lang="en-US" sz="135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Navratri/Dussehra data — peak sale season</a:t>
            </a:r>
            <a:endParaRPr lang="en-US" sz="135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Multi-window chronological validation, at scale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Gemini-based deceptive pattern classification (urgency, scarcity)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2026-09-24T05:42:36Z</dcterms:created>
  <dcterms:modified xsi:type="dcterms:W3CDTF">2026-09-24T05:42:36Z</dcterms:modified>
</cp:coreProperties>
</file>